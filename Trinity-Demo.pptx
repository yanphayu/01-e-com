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148840"/>
            <a:ext cx="1005840" cy="82296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46888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2563EB"/>
                </a:solidFill>
                <a:latin typeface="Segoe UI"/>
              </a:rPr>
              <a:t>TRINITY MARKETPLACE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926080"/>
            <a:ext cx="1051560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5400" b="1">
                <a:solidFill>
                  <a:srgbClr val="FFFFFF"/>
                </a:solidFill>
                <a:latin typeface="Segoe UI"/>
              </a:rPr>
              <a:t>3-minute demo script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977639"/>
            <a:ext cx="100584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>
                <a:solidFill>
                  <a:srgbClr val="CBD5E1"/>
                </a:solidFill>
                <a:latin typeface="Segoe UI"/>
              </a:rPr>
              <a:t>What to show, in order — user storefront and admin dashboard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566928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64748B"/>
                </a:solidFill>
                <a:latin typeface="Segoe UI"/>
              </a:rPr>
              <a:t>Discovery  ·  Real-time engagement  ·  Accounts  ·  Marketplace admin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02920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2563EB"/>
                </a:solidFill>
                <a:latin typeface="Segoe UI"/>
              </a:rPr>
              <a:t>RUN OF SHOW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804672"/>
            <a:ext cx="1078992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400" b="1">
                <a:solidFill>
                  <a:srgbClr val="0F172A"/>
                </a:solidFill>
                <a:latin typeface="Segoe UI"/>
              </a:rPr>
              <a:t>How to spend the three minutes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737360"/>
            <a:ext cx="1600200" cy="658368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956816"/>
            <a:ext cx="1600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2563EB"/>
                </a:solidFill>
                <a:latin typeface="Segoe UI"/>
              </a:rPr>
              <a:t>0:00 – 0:25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514600" y="1783080"/>
            <a:ext cx="29260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>
                <a:solidFill>
                  <a:srgbClr val="0F172A"/>
                </a:solidFill>
                <a:latin typeface="Segoe UI"/>
              </a:rPr>
              <a:t>The problem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14600" y="2103120"/>
            <a:ext cx="87782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475569"/>
                </a:solidFill>
                <a:latin typeface="Segoe UI"/>
              </a:rPr>
              <a:t>Buying special products online is scattered and unreliable — no trust, no easy way to reach the seller.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2578608"/>
            <a:ext cx="1600200" cy="658368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2798064"/>
            <a:ext cx="1600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2563EB"/>
                </a:solidFill>
                <a:latin typeface="Segoe UI"/>
              </a:rPr>
              <a:t>0:25 – 1:20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514600" y="2624328"/>
            <a:ext cx="29260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>
                <a:solidFill>
                  <a:srgbClr val="0F172A"/>
                </a:solidFill>
                <a:latin typeface="Segoe UI"/>
              </a:rPr>
              <a:t>As a shopper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14600" y="2944368"/>
            <a:ext cx="87782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475569"/>
                </a:solidFill>
                <a:latin typeface="Segoe UI"/>
              </a:rPr>
              <a:t>Home, filters, product page, comments, instant chat, alerts, notifications, favourites.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85800" y="3419856"/>
            <a:ext cx="1600200" cy="658368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3639312"/>
            <a:ext cx="1600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2563EB"/>
                </a:solidFill>
                <a:latin typeface="Segoe UI"/>
              </a:rPr>
              <a:t>1:20 – 1:55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514600" y="3465576"/>
            <a:ext cx="29260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>
                <a:solidFill>
                  <a:srgbClr val="0F172A"/>
                </a:solidFill>
                <a:latin typeface="Segoe UI"/>
              </a:rPr>
              <a:t>As a seller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514600" y="3785616"/>
            <a:ext cx="87782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475569"/>
                </a:solidFill>
                <a:latin typeface="Segoe UI"/>
              </a:rPr>
              <a:t>Post a listing, manage it, and watch comments and messages arrive live.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85800" y="4261104"/>
            <a:ext cx="1600200" cy="658368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5800" y="4480560"/>
            <a:ext cx="1600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2563EB"/>
                </a:solidFill>
                <a:latin typeface="Segoe UI"/>
              </a:rPr>
              <a:t>1:55 – 2:35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514600" y="4306824"/>
            <a:ext cx="29260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>
                <a:solidFill>
                  <a:srgbClr val="0F172A"/>
                </a:solidFill>
                <a:latin typeface="Segoe UI"/>
              </a:rPr>
              <a:t>Running it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514600" y="4626864"/>
            <a:ext cx="87782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475569"/>
                </a:solidFill>
                <a:latin typeface="Segoe UI"/>
              </a:rPr>
              <a:t>Dashboard, approve a listing, resolve a report, push a promo banner, export reports.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85800" y="5102352"/>
            <a:ext cx="1600200" cy="658368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5800" y="5321808"/>
            <a:ext cx="1600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2563EB"/>
                </a:solidFill>
                <a:latin typeface="Segoe UI"/>
              </a:rPr>
              <a:t>2:35 – 3:00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514600" y="5148072"/>
            <a:ext cx="29260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>
                <a:solidFill>
                  <a:srgbClr val="0F172A"/>
                </a:solidFill>
                <a:latin typeface="Segoe UI"/>
              </a:rPr>
              <a:t>Close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514600" y="5468112"/>
            <a:ext cx="87782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475569"/>
                </a:solidFill>
                <a:latin typeface="Segoe UI"/>
              </a:rPr>
              <a:t>Buyers get trust and speed. Sellers get a shop that works while they sleep.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02920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2563EB"/>
                </a:solidFill>
                <a:latin typeface="Segoe UI"/>
              </a:rPr>
              <a:t>USER FRONTEND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804672"/>
            <a:ext cx="1078992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400" b="1">
                <a:solidFill>
                  <a:srgbClr val="0F172A"/>
                </a:solidFill>
                <a:latin typeface="Segoe UI"/>
              </a:rPr>
              <a:t>Discovery — the first impression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819656"/>
            <a:ext cx="274320" cy="27432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856232"/>
            <a:ext cx="2743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2563EB"/>
                </a:solidFill>
                <a:latin typeface="Segoe U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1783080"/>
            <a:ext cx="1037844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0">
                <a:solidFill>
                  <a:srgbClr val="475569"/>
                </a:solidFill>
                <a:latin typeface="Segoe UI"/>
              </a:rPr>
              <a:t>Home page — rotating promo banner at the top, category tabs, product grid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2377440"/>
            <a:ext cx="274320" cy="27432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2414016"/>
            <a:ext cx="2743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2563EB"/>
                </a:solidFill>
                <a:latin typeface="Segoe UI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2340864"/>
            <a:ext cx="1037844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0">
                <a:solidFill>
                  <a:srgbClr val="475569"/>
                </a:solidFill>
                <a:latin typeface="Segoe UI"/>
              </a:rPr>
              <a:t>Sort — Newest first / Oldest first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85800" y="2935224"/>
            <a:ext cx="274320" cy="27432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2971800"/>
            <a:ext cx="2743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2563EB"/>
                </a:solidFill>
                <a:latin typeface="Segoe UI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2898648"/>
            <a:ext cx="1037844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0">
                <a:solidFill>
                  <a:srgbClr val="475569"/>
                </a:solidFill>
                <a:latin typeface="Segoe UI"/>
              </a:rPr>
              <a:t>Price filter — Min + Max, Apply, Clear; filters stay in the URL so they can be shared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85800" y="3493008"/>
            <a:ext cx="274320" cy="27432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3529584"/>
            <a:ext cx="2743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2563EB"/>
                </a:solidFill>
                <a:latin typeface="Segoe UI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" y="3456432"/>
            <a:ext cx="1037844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0">
                <a:solidFill>
                  <a:srgbClr val="475569"/>
                </a:solidFill>
                <a:latin typeface="Segoe UI"/>
              </a:rPr>
              <a:t>Search with live suggestions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85800" y="4050792"/>
            <a:ext cx="274320" cy="27432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5800" y="4087368"/>
            <a:ext cx="2743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2563EB"/>
                </a:solidFill>
                <a:latin typeface="Segoe UI"/>
              </a:rPr>
              <a:t>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" y="4014216"/>
            <a:ext cx="1037844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0">
                <a:solidFill>
                  <a:srgbClr val="475569"/>
                </a:solidFill>
                <a:latin typeface="Segoe UI"/>
              </a:rPr>
              <a:t>Product detail — image gallery, price, category, condition, location, seller, view / phone actions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85800" y="4608576"/>
            <a:ext cx="274320" cy="27432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5800" y="4645152"/>
            <a:ext cx="2743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2563EB"/>
                </a:solidFill>
                <a:latin typeface="Segoe UI"/>
              </a:rPr>
              <a:t>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0" y="4572000"/>
            <a:ext cx="1037844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0">
                <a:solidFill>
                  <a:srgbClr val="475569"/>
                </a:solidFill>
                <a:latin typeface="Segoe UI"/>
              </a:rPr>
              <a:t>Comments and replies — ask a question publicly under the listing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" y="6035040"/>
            <a:ext cx="107899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64748B"/>
                </a:solidFill>
                <a:latin typeface="Segoe UI"/>
              </a:rPr>
              <a:t>Say: “I filter by what I actually want instead of scrolling.”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02920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2563EB"/>
                </a:solidFill>
                <a:latin typeface="Segoe UI"/>
              </a:rPr>
              <a:t>USER FRONTEND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804672"/>
            <a:ext cx="1078992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400" b="1">
                <a:solidFill>
                  <a:srgbClr val="0F172A"/>
                </a:solidFill>
                <a:latin typeface="Segoe UI"/>
              </a:rPr>
              <a:t>Engagement — the ‘wow’ part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819656"/>
            <a:ext cx="274320" cy="27432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856232"/>
            <a:ext cx="2743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2563EB"/>
                </a:solidFill>
                <a:latin typeface="Segoe UI"/>
              </a:rPr>
              <a:t>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1783080"/>
            <a:ext cx="1037844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0">
                <a:solidFill>
                  <a:srgbClr val="475569"/>
                </a:solidFill>
                <a:latin typeface="Segoe UI"/>
              </a:rPr>
              <a:t>Instant messaging — send from a listing, reply in a second window, no refresh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2377440"/>
            <a:ext cx="274320" cy="27432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2414016"/>
            <a:ext cx="2743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2563EB"/>
                </a:solidFill>
                <a:latin typeface="Segoe UI"/>
              </a:rPr>
              <a:t>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2340864"/>
            <a:ext cx="1037844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0">
                <a:solidFill>
                  <a:srgbClr val="475569"/>
                </a:solidFill>
                <a:latin typeface="Segoe UI"/>
              </a:rPr>
              <a:t>Unread indicators — chat badge on the left icon, notifications badge on the bell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85800" y="2935224"/>
            <a:ext cx="274320" cy="27432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2971800"/>
            <a:ext cx="2743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2563EB"/>
                </a:solidFill>
                <a:latin typeface="Segoe UI"/>
              </a:rPr>
              <a:t>9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2898648"/>
            <a:ext cx="1037844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0">
                <a:solidFill>
                  <a:srgbClr val="475569"/>
                </a:solidFill>
                <a:latin typeface="Segoe UI"/>
              </a:rPr>
              <a:t>Top-right alerts — a card slides in when a message or comment arrives, with a jump link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85800" y="3493008"/>
            <a:ext cx="274320" cy="27432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3529584"/>
            <a:ext cx="2743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2563EB"/>
                </a:solidFill>
                <a:latin typeface="Segoe UI"/>
              </a:rPr>
              <a:t>10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" y="3456432"/>
            <a:ext cx="1037844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0">
                <a:solidFill>
                  <a:srgbClr val="475569"/>
                </a:solidFill>
                <a:latin typeface="Segoe UI"/>
              </a:rPr>
              <a:t>Notifications page — read / unread states, Mark all read, Clear read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85800" y="4050792"/>
            <a:ext cx="274320" cy="27432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5800" y="4087368"/>
            <a:ext cx="2743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2563EB"/>
                </a:solidFill>
                <a:latin typeface="Segoe UI"/>
              </a:rPr>
              <a:t>11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" y="4014216"/>
            <a:ext cx="1037844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0">
                <a:solidFill>
                  <a:srgbClr val="475569"/>
                </a:solidFill>
                <a:latin typeface="Segoe UI"/>
              </a:rPr>
              <a:t>Favourites — heart a product, then open the Favourites page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4892040"/>
            <a:ext cx="107899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64748B"/>
                </a:solidFill>
                <a:latin typeface="Segoe UI"/>
              </a:rPr>
              <a:t>Say: “No refreshing, no ‘did you get my message?’”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02920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2563EB"/>
                </a:solidFill>
                <a:latin typeface="Segoe UI"/>
              </a:rPr>
              <a:t>USER FRONTEND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804672"/>
            <a:ext cx="1078992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400" b="1">
                <a:solidFill>
                  <a:srgbClr val="0F172A"/>
                </a:solidFill>
                <a:latin typeface="Segoe UI"/>
              </a:rPr>
              <a:t>Accounts and selling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773936"/>
            <a:ext cx="274320" cy="27432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810512"/>
            <a:ext cx="2743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2563EB"/>
                </a:solidFill>
                <a:latin typeface="Segoe UI"/>
              </a:rPr>
              <a:t>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1737360"/>
            <a:ext cx="103784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475569"/>
                </a:solidFill>
                <a:latin typeface="Segoe UI"/>
              </a:rPr>
              <a:t>Register → email code verification → profile setup (avatar, cover, bio, phone, socials, map pin)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2286000"/>
            <a:ext cx="274320" cy="27432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2322576"/>
            <a:ext cx="2743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2563EB"/>
                </a:solidFill>
                <a:latin typeface="Segoe UI"/>
              </a:rPr>
              <a:t>13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2249424"/>
            <a:ext cx="103784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475569"/>
                </a:solidFill>
                <a:latin typeface="Segoe UI"/>
              </a:rPr>
              <a:t>Login with email and password, plus Continue with Google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85800" y="2798064"/>
            <a:ext cx="274320" cy="27432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2834640"/>
            <a:ext cx="2743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2563EB"/>
                </a:solidFill>
                <a:latin typeface="Segoe UI"/>
              </a:rPr>
              <a:t>14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2761488"/>
            <a:ext cx="103784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475569"/>
                </a:solidFill>
                <a:latin typeface="Segoe UI"/>
              </a:rPr>
              <a:t>Forgot / reset password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85800" y="3310128"/>
            <a:ext cx="274320" cy="27432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3346704"/>
            <a:ext cx="2743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2563EB"/>
                </a:solidFill>
                <a:latin typeface="Segoe UI"/>
              </a:rPr>
              <a:t>15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" y="3273552"/>
            <a:ext cx="103784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475569"/>
                </a:solidFill>
                <a:latin typeface="Segoe UI"/>
              </a:rPr>
              <a:t>Public seller profile — cover, avatar, name, listings; no private address shown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85800" y="3822192"/>
            <a:ext cx="274320" cy="27432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5800" y="3858768"/>
            <a:ext cx="2743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2563EB"/>
                </a:solidFill>
                <a:latin typeface="Segoe UI"/>
              </a:rPr>
              <a:t>16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" y="3785616"/>
            <a:ext cx="103784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475569"/>
                </a:solidFill>
                <a:latin typeface="Segoe UI"/>
              </a:rPr>
              <a:t>Post a product — photos, title, price, description, category, attributes, contact numbers, map pin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85800" y="4334256"/>
            <a:ext cx="274320" cy="27432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5800" y="4370832"/>
            <a:ext cx="2743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2563EB"/>
                </a:solidFill>
                <a:latin typeface="Segoe UI"/>
              </a:rPr>
              <a:t>17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0" y="4297680"/>
            <a:ext cx="103784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475569"/>
                </a:solidFill>
                <a:latin typeface="Segoe UI"/>
              </a:rPr>
              <a:t>Manage own listings — edit, delete, hide / show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85800" y="4846320"/>
            <a:ext cx="274320" cy="27432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85800" y="4882896"/>
            <a:ext cx="2743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2563EB"/>
                </a:solidFill>
                <a:latin typeface="Segoe UI"/>
              </a:rPr>
              <a:t>18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97280" y="4809744"/>
            <a:ext cx="103784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475569"/>
                </a:solidFill>
                <a:latin typeface="Segoe UI"/>
              </a:rPr>
              <a:t>Settings — language (English / Khmer), light &amp; dark theme, blocked users, delete account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85800" y="5358384"/>
            <a:ext cx="274320" cy="27432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85800" y="5394960"/>
            <a:ext cx="2743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2563EB"/>
                </a:solidFill>
                <a:latin typeface="Segoe UI"/>
              </a:rPr>
              <a:t>19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97280" y="5321808"/>
            <a:ext cx="103784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475569"/>
                </a:solidFill>
                <a:latin typeface="Segoe UI"/>
              </a:rPr>
              <a:t>Mobile responsiveness — bottom nav and stacked cards on a narrow window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5800" y="6172200"/>
            <a:ext cx="107899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64748B"/>
                </a:solidFill>
                <a:latin typeface="Segoe UI"/>
              </a:rPr>
              <a:t>Keep this section to 35 seconds — show the profile photo upload and the map picker.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02920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2563EB"/>
                </a:solidFill>
                <a:latin typeface="Segoe UI"/>
              </a:rPr>
              <a:t>ADMIN DASHBOARD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804672"/>
            <a:ext cx="1078992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400" b="1">
                <a:solidFill>
                  <a:srgbClr val="0F172A"/>
                </a:solidFill>
                <a:latin typeface="Segoe UI"/>
              </a:rPr>
              <a:t>Running the marketplace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773936"/>
            <a:ext cx="274320" cy="27432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810512"/>
            <a:ext cx="2743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2563EB"/>
                </a:solidFill>
                <a:latin typeface="Segoe U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1737360"/>
            <a:ext cx="10378440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475569"/>
                </a:solidFill>
                <a:latin typeface="Segoe UI"/>
              </a:rPr>
              <a:t>Admin login — session based, separate from the storefront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2304288"/>
            <a:ext cx="274320" cy="27432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2340864"/>
            <a:ext cx="2743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2563EB"/>
                </a:solidFill>
                <a:latin typeface="Segoe UI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2267712"/>
            <a:ext cx="10378440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475569"/>
                </a:solidFill>
                <a:latin typeface="Segoe UI"/>
              </a:rPr>
              <a:t>Dashboard — listings, members, comments and conversations, plus activity and chat charts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85800" y="2834640"/>
            <a:ext cx="274320" cy="27432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2871216"/>
            <a:ext cx="2743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2563EB"/>
                </a:solidFill>
                <a:latin typeface="Segoe UI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2798064"/>
            <a:ext cx="10378440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475569"/>
                </a:solidFill>
                <a:latin typeface="Segoe UI"/>
              </a:rPr>
              <a:t>Analytics — the charts page with the 7 / 30 / 90-day range switch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85800" y="3364992"/>
            <a:ext cx="274320" cy="27432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3401568"/>
            <a:ext cx="2743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2563EB"/>
                </a:solidFill>
                <a:latin typeface="Segoe UI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" y="3328416"/>
            <a:ext cx="10378440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475569"/>
                </a:solidFill>
                <a:latin typeface="Segoe UI"/>
              </a:rPr>
              <a:t>Products — filter by search, status, category, visibility; Approve / Reject goes live instantly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85800" y="3895344"/>
            <a:ext cx="274320" cy="27432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5800" y="3931920"/>
            <a:ext cx="2743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2563EB"/>
                </a:solidFill>
                <a:latin typeface="Segoe UI"/>
              </a:rPr>
              <a:t>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" y="3858768"/>
            <a:ext cx="10378440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475569"/>
                </a:solidFill>
                <a:latin typeface="Segoe UI"/>
              </a:rPr>
              <a:t>Users — avatars, filter Admins vs Members, activity bubble chart, edit, promote, delete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85800" y="4425696"/>
            <a:ext cx="274320" cy="27432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5800" y="4462272"/>
            <a:ext cx="2743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2563EB"/>
                </a:solidFill>
                <a:latin typeface="Segoe UI"/>
              </a:rPr>
              <a:t>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0" y="4389120"/>
            <a:ext cx="10378440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475569"/>
                </a:solidFill>
                <a:latin typeface="Segoe UI"/>
              </a:rPr>
              <a:t>Reports — filter by status, read the reason, Resolve or Dismiss (badge count drops)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" y="5623560"/>
            <a:ext cx="107899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64748B"/>
                </a:solidFill>
                <a:latin typeface="Segoe UI"/>
              </a:rPr>
              <a:t>Frame it as: “the team that keeps the marketplace trustworthy.”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02920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2563EB"/>
                </a:solidFill>
                <a:latin typeface="Segoe UI"/>
              </a:rPr>
              <a:t>ADMIN DASHBOARD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804672"/>
            <a:ext cx="1078992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400" b="1">
                <a:solidFill>
                  <a:srgbClr val="0F172A"/>
                </a:solidFill>
                <a:latin typeface="Segoe UI"/>
              </a:rPr>
              <a:t>Content, settings and reporting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773936"/>
            <a:ext cx="274320" cy="27432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810512"/>
            <a:ext cx="2743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2563EB"/>
                </a:solidFill>
                <a:latin typeface="Segoe UI"/>
              </a:rPr>
              <a:t>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1737360"/>
            <a:ext cx="1037844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475569"/>
                </a:solidFill>
                <a:latin typeface="Segoe UI"/>
              </a:rPr>
              <a:t>Ads — upload a homepage banner with image, headline, sub text, button label and link; set order; activate / deactivate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2395728"/>
            <a:ext cx="274320" cy="27432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2432304"/>
            <a:ext cx="2743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2563EB"/>
                </a:solidFill>
                <a:latin typeface="Segoe UI"/>
              </a:rPr>
              <a:t>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2359152"/>
            <a:ext cx="1037844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475569"/>
                </a:solidFill>
                <a:latin typeface="Segoe UI"/>
              </a:rPr>
              <a:t>Catalog — categories, subcategories, brands, models, attributes (create, edit, activate, delete)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85800" y="3017520"/>
            <a:ext cx="274320" cy="27432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3054096"/>
            <a:ext cx="2743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2563EB"/>
                </a:solidFill>
                <a:latin typeface="Segoe UI"/>
              </a:rPr>
              <a:t>9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2980944"/>
            <a:ext cx="1037844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475569"/>
                </a:solidFill>
                <a:latin typeface="Segoe UI"/>
              </a:rPr>
              <a:t>Settings → Sign-in panel — edit the login / register copy with a live preview, Restore defaults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85800" y="3639312"/>
            <a:ext cx="274320" cy="27432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3675888"/>
            <a:ext cx="2743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2563EB"/>
                </a:solidFill>
                <a:latin typeface="Segoe UI"/>
              </a:rPr>
              <a:t>10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" y="3602736"/>
            <a:ext cx="1037844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475569"/>
                </a:solidFill>
                <a:latin typeface="Segoe UI"/>
              </a:rPr>
              <a:t>Export — scope toggle (Filtered results / All records) with Export PDF and Export Excel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85800" y="4261104"/>
            <a:ext cx="274320" cy="27432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5800" y="4297680"/>
            <a:ext cx="2743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2563EB"/>
                </a:solidFill>
                <a:latin typeface="Segoe UI"/>
              </a:rPr>
              <a:t>11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" y="4224528"/>
            <a:ext cx="1037844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475569"/>
                </a:solidFill>
                <a:latin typeface="Segoe UI"/>
              </a:rPr>
              <a:t>Admin polish — SVG sidebar icons, top-right success alerts, delete confirmation card, styled scrollbars, dark mode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5897880"/>
            <a:ext cx="107899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64748B"/>
                </a:solidFill>
                <a:latin typeface="Segoe UI"/>
              </a:rPr>
              <a:t>If short on time: instant messaging, price filter, approving a listing, the promo banner, and the PDF export.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02920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2563EB"/>
                </a:solidFill>
                <a:latin typeface="Segoe UI"/>
              </a:rPr>
              <a:t>BEFORE YOU PRESENT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804672"/>
            <a:ext cx="1078992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400" b="1">
                <a:solidFill>
                  <a:srgbClr val="0F172A"/>
                </a:solidFill>
                <a:latin typeface="Segoe UI"/>
              </a:rPr>
              <a:t>Prep and backup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691640"/>
            <a:ext cx="51206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2563EB"/>
                </a:solidFill>
                <a:latin typeface="Segoe UI"/>
              </a:rPr>
              <a:t>DO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2139696"/>
            <a:ext cx="274320" cy="27432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2176272"/>
            <a:ext cx="2743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2563EB"/>
                </a:solidFill>
                <a:latin typeface="Segoe U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2103120"/>
            <a:ext cx="4709160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475569"/>
                </a:solidFill>
                <a:latin typeface="Segoe UI"/>
              </a:rPr>
              <a:t>Run the three services: web server, realtime server, frontend dev server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2852928"/>
            <a:ext cx="274320" cy="27432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2889504"/>
            <a:ext cx="2743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2563EB"/>
                </a:solidFill>
                <a:latin typeface="Segoe UI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2816352"/>
            <a:ext cx="4709160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475569"/>
                </a:solidFill>
                <a:latin typeface="Segoe UI"/>
              </a:rPr>
              <a:t>Seed demo data: 1 pending listing, products in two price ranges, 1 report, 1 promo banner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85800" y="3566160"/>
            <a:ext cx="274320" cy="27432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3602736"/>
            <a:ext cx="2743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2563EB"/>
                </a:solidFill>
                <a:latin typeface="Segoe UI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3529584"/>
            <a:ext cx="4709160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475569"/>
                </a:solidFill>
                <a:latin typeface="Segoe UI"/>
              </a:rPr>
              <a:t>Open two accounts side by side (seller + buyer) for the messaging demo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85800" y="4279392"/>
            <a:ext cx="274320" cy="27432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" y="4315968"/>
            <a:ext cx="2743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2563EB"/>
                </a:solidFill>
                <a:latin typeface="Segoe UI"/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" y="4242816"/>
            <a:ext cx="4709160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475569"/>
                </a:solidFill>
                <a:latin typeface="Segoe UI"/>
              </a:rPr>
              <a:t>Export PDF once so the file is warm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1691640"/>
            <a:ext cx="51206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2563EB"/>
                </a:solidFill>
                <a:latin typeface="Segoe UI"/>
              </a:rPr>
              <a:t>BACKUP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0" y="2139696"/>
            <a:ext cx="274320" cy="27432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0" y="2176272"/>
            <a:ext cx="2743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2563EB"/>
                </a:solidFill>
                <a:latin typeface="Segoe UI"/>
              </a:rPr>
              <a:t>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12280" y="2103120"/>
            <a:ext cx="4709160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475569"/>
                </a:solidFill>
                <a:latin typeface="Segoe UI"/>
              </a:rPr>
              <a:t>Record a 15-second clip of the instant messaging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00800" y="2852928"/>
            <a:ext cx="274320" cy="27432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0" y="2889504"/>
            <a:ext cx="2743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2563EB"/>
                </a:solidFill>
                <a:latin typeface="Segoe UI"/>
              </a:rPr>
              <a:t>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12280" y="2816352"/>
            <a:ext cx="4709160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475569"/>
                </a:solidFill>
                <a:latin typeface="Segoe UI"/>
              </a:rPr>
              <a:t>Record a 15-second clip of a PDF download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00800" y="3566160"/>
            <a:ext cx="274320" cy="27432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0" y="3602736"/>
            <a:ext cx="2743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2563EB"/>
                </a:solidFill>
                <a:latin typeface="Segoe UI"/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12280" y="3529584"/>
            <a:ext cx="4709160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475569"/>
                </a:solidFill>
                <a:latin typeface="Segoe UI"/>
              </a:rPr>
              <a:t>Both depend on live services — talk over static screens if anything fails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400800" y="4279392"/>
            <a:ext cx="274320" cy="27432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00800" y="4315968"/>
            <a:ext cx="2743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2563EB"/>
                </a:solidFill>
                <a:latin typeface="Segoe UI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12280" y="4242816"/>
            <a:ext cx="4709160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475569"/>
                </a:solidFill>
                <a:latin typeface="Segoe UI"/>
              </a:rPr>
              <a:t>Know the demo login: admin@trinity.com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